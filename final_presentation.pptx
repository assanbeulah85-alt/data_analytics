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FF7F-4BF9-49BF-B1A6-2867C965A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CD6B7-B346-4CF9-ABAD-6C05224E3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9E348-CE41-43B3-A957-265DB2B1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2DF8-E1E7-4185-8B07-8866F0C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BFED3-999F-43FA-9AF4-77E2B8C8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5146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C558-FA64-42CC-A164-1DE523D8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35C48-42F6-4631-9148-0730EF42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4C628-7A3D-438D-B676-46B2A7B7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74556-9ACF-4144-8CBA-0CE2692C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E8439-CEFB-4083-939C-A008CE2B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215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943F-C66B-4AD7-88F8-969245ED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D7E55-1792-430C-8923-D81B42F75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DCAAF-9319-4405-80B3-616A5598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DD75-E101-452F-B10F-2C2AFBFD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48614-75E5-4D81-A39E-2AA056FB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0921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B4D5-D960-44F2-87B4-E234B9F8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94D58-8843-4371-AFF5-59742C970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3FF10-B909-4F24-8B4B-F2C2D11CE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F5114-E9EF-4CF6-9620-0AC9BDBE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0401F-7729-4700-B4AB-9B173060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672B8-48D1-45E2-846C-88A19FF2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1749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03AB-AA0B-486E-9B18-6FE3E41F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3522A-C619-4CA9-9AFF-40F8353B5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C4636-A856-45F4-B12E-CA7F5D4CD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527EA-7B64-4FF3-9C37-4F0A5ED6D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3DC47-A70E-4D2F-8C89-55551F5A0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049A4-1A51-4EDA-B581-B589E3EC4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10313-490F-4500-B4FE-AAD57DBE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D7CF5-028B-4C8D-B2FF-8ACF98DE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603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8357-B83A-497D-B9FD-257E5E4B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B54D6-B0DA-4D9E-BC15-664FEE67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5AD12-0E95-43FA-AB19-CC29C37D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90E4D-A424-48C7-88A8-2CE87C9F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5352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86414-F7C2-448B-A637-57F0D4CA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DE7FE-3119-4458-98BA-74DE507C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7727-2E91-4761-9B5F-9CD9A02D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492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4038-53E4-4369-9E4B-A8B30DFEE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3E4F-04B9-45CD-9C57-212FD37BE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AF9F1-D7D4-4483-93B2-45D361751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47015-E3C1-4620-9BBE-977DBA822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06D8F-93E4-4171-9DF2-82EF0AA6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8B52-C388-43D0-B0FF-59C65B9D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3714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D33-EFD0-4D2C-8F6A-E20EBDB8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7E9A1-8F7B-4454-9099-126364DF8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CC7DC-25A9-4BB3-9782-4C0074BD4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6FB0F-4E44-41A8-95D4-4DF70A21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9927A-1F07-4264-84E4-CDBBADCB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704BD-4824-487D-9032-6D9F988C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3462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4BE32-4A38-4F23-98B1-2DB2C7A3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A2026-DF9A-4EDB-96E7-0BEBE47EA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71AF3-2CD6-412E-B7B6-DDBBA96A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27DCA-F6C3-44DE-B6C1-19274CC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EBE3-FCC3-412F-8B0E-42BEEA18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9800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ABD3B1-3676-44DF-9762-F40AA3CDB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937F0-AF23-4912-AA4A-5C79DDB25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CEE26-1D94-4A92-97FE-A91A4D9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FD125-75A8-4EDD-962A-8B004043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CD293-12F1-4530-8349-30710498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1134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18D41-30CA-49E9-B263-57DAB175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AF329-2AF7-4270-9B75-DAB21CFF2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401B1-D6CF-4632-A2CD-40E05C742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C657-0AD9-417B-9972-F7F0C65FD4EB}" type="datetimeFigureOut">
              <a:rPr lang="en-GH" smtClean="0"/>
              <a:t>07/10/2026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659E-23B8-4C0C-BB49-77888FDE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5FC7-17F2-4C7C-88C3-01C3332B5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C4AB6-F067-4CD5-92C7-A39B93AE807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2957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Sales Performance Analysis</a:t>
            </a:r>
            <a:br/>
            <a:r>
              <a:t>&amp; Management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889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0"/>
                </a:solidFill>
              </a:defRPr>
            </a:pPr>
            <a:r>
              <a:t>Turning transactional sales data into a validated, interactive management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205740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Sales information needed to be organized across customers, products and transactions.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Management needed a clear view of revenue, orders, customers, products, regions and salespeople.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</a:defRPr>
            </a:pPr>
            <a:r>
              <a:t>• The objective was to support evidence-based decisions through SQL analysis and Power BI.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Data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From source transactions to a validated relational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82880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32378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1B2A41"/>
                </a:solidFill>
              </a:defRPr>
            </a:pPr>
            <a:r>
              <a:t>Customers</a:t>
            </a:r>
          </a:p>
          <a:p>
            <a:pPr algn="l">
              <a:defRPr sz="1050">
                <a:solidFill>
                  <a:srgbClr val="64748B"/>
                </a:solidFill>
              </a:defRPr>
            </a:pPr>
            <a:r>
              <a:t>CustomerID, name, region,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1828800"/>
            <a:ext cx="3332378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1B2A41"/>
                </a:solidFill>
              </a:defRPr>
            </a:pPr>
            <a:r>
              <a:t>Products</a:t>
            </a:r>
          </a:p>
          <a:p>
            <a:pPr algn="l">
              <a:defRPr sz="1050">
                <a:solidFill>
                  <a:srgbClr val="64748B"/>
                </a:solidFill>
              </a:defRPr>
            </a:pPr>
            <a:r>
              <a:t>ProductID, product, category, reference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9236" y="1828800"/>
            <a:ext cx="3332378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1B2A41"/>
                </a:solidFill>
              </a:defRPr>
            </a:pPr>
            <a:r>
              <a:t>Orders</a:t>
            </a:r>
          </a:p>
          <a:p>
            <a:pPr algn="l">
              <a:defRPr sz="1050">
                <a:solidFill>
                  <a:srgbClr val="64748B"/>
                </a:solidFill>
              </a:defRPr>
            </a:pPr>
            <a:r>
              <a:t>OrderID, date, customer/product IDs, quantity, price, salesperson,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251460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VALIDATION &amp;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1,000 order records and 1,000 unique </a:t>
            </a:r>
            <a:r>
              <a:rPr dirty="0" err="1"/>
              <a:t>OrderIDs</a:t>
            </a:r>
            <a:r>
              <a:rPr dirty="0"/>
              <a:t>; no duplicates.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No null key fields, invalid quantities, or unmatched </a:t>
            </a:r>
            <a:r>
              <a:rPr dirty="0" err="1"/>
              <a:t>CustomerID</a:t>
            </a:r>
            <a:r>
              <a:rPr dirty="0"/>
              <a:t>/</a:t>
            </a:r>
            <a:r>
              <a:rPr dirty="0" err="1"/>
              <a:t>ProductID</a:t>
            </a:r>
            <a:r>
              <a:rPr dirty="0"/>
              <a:t> values.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Revenue standardized as Quantity × </a:t>
            </a:r>
            <a:r>
              <a:rPr dirty="0" err="1"/>
              <a:t>UnitPrice</a:t>
            </a:r>
            <a:r>
              <a:rPr dirty="0"/>
              <a:t> and reconciled between SQL and Power BI.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375 price differences were retained as systematic transaction-level adjustments: 185 at −5% and 190 at +5%.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Key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Full dataset, Jan–Aug 2026; growth compares the latest full month (July) with June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TOTAL REVENUE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GH₵3,458,371.25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Revenue = Quantity × UnitPrice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TOTAL ORDERS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1,000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Transaction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AVERAGE ORDER VALUE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GH₵3,458.37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Revenue ÷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TOTAL CUSTOMERS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120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Unique ordering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7180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PREVIOUS MONTH REVENUE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GH₵349,313.00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June 2026, the month before July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71800"/>
            <a:ext cx="338328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>
              <a:defRPr sz="1100" b="1">
                <a:solidFill>
                  <a:srgbClr val="64748B"/>
                </a:solidFill>
              </a:defRPr>
            </a:pPr>
            <a:r>
              <a:t>MONTHLY REVENUE GROWTH</a:t>
            </a:r>
          </a:p>
          <a:p>
            <a:pPr algn="l">
              <a:defRPr sz="2200" b="1">
                <a:solidFill>
                  <a:srgbClr val="1B2A41"/>
                </a:solidFill>
              </a:defRPr>
            </a:pPr>
            <a:r>
              <a:t>+48.86%</a:t>
            </a:r>
          </a:p>
          <a:p>
            <a:pPr algn="l">
              <a:defRPr sz="850">
                <a:solidFill>
                  <a:srgbClr val="64748B"/>
                </a:solidFill>
              </a:defRPr>
            </a:pPr>
            <a:r>
              <a:t>July vs June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82880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WHY THESE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The KPI layer gives management a fast view of scale and recent movement.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The DateTable supports contiguous time intelligence for previous-month and growth calculations.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management-level view with interactive exploration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989320"/>
            <a:ext cx="141732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943600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Date • Region • Category slicers  |  Product Details drill-through  |  Data Notes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4/7</a:t>
            </a:r>
          </a:p>
        </p:txBody>
      </p:sp>
      <p:pic>
        <p:nvPicPr>
          <p:cNvPr id="18" name="Picture 17" descr="dashboard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08" y="1371600"/>
            <a:ext cx="763327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the analysis says about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Revenue is volatile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May was strongest at GH₵602,685.75 (+65.03% vs April); June and August fell 42.04% and 39.22%.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Regional spread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Greater Accra and Western lead with 22.67% and 19.77% of revenue; no region contributes less than 12.58%.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High value ≠ high volume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Computers generated GH₵2.164M from 388 units, while Accessories sold 758 units but generated GH₵151,598.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97180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Products are concentrated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Performance Laptop and Office Laptop lead at GH₵1.053M and GH₵769,860 respectively.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2628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Order frequency ≠ customer value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Kojo Sarpong: GH₵62,199 from 12 orders; Priscilla Issah: GH₵22,943 from 15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26280"/>
            <a:ext cx="516636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1B2A41"/>
                </a:solidFill>
              </a:defRPr>
            </a:pPr>
            <a:r>
              <a:t>Salesperson patterns differ</a:t>
            </a:r>
          </a:p>
          <a:p>
            <a:pPr algn="l">
              <a:defRPr sz="1050">
                <a:solidFill>
                  <a:srgbClr val="1E293B"/>
                </a:solidFill>
              </a:defRPr>
            </a:pPr>
            <a:r>
              <a:t>Francis Amoah led revenue/AOV; Benjamin Osei had the most orders but lower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Actions grounded in the observed sales patterns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530352" cy="53035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9601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1"/>
                </a:solidFill>
              </a:defRPr>
            </a:pPr>
            <a:r>
              <a:t>Investigate monthly swings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Review the causes behind the June and August declines before using monthly results for forecasting.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34640"/>
            <a:ext cx="530352" cy="53035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88920"/>
            <a:ext cx="9601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1"/>
                </a:solidFill>
              </a:defRPr>
            </a:pPr>
            <a:r>
              <a:t>Prioritize value, not just volume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Focus attention on high-value products and customers while reviewing weaker performers for pricing or positioning issues.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251960"/>
            <a:ext cx="530352" cy="530352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206240"/>
            <a:ext cx="9601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1"/>
                </a:solidFill>
              </a:defRPr>
            </a:pPr>
            <a:r>
              <a:t>Use the dashboard routinely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Monitor KPIs, monthly growth, regions, categories and drill-through details to identify changes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15000"/>
            <a:ext cx="182880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DECISION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641848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Use the dashboard to monitor evidence first, then investigate causes before acting.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1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Important context for responsible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55448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749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Analysis covers January–August 2026; the dataset ends August 25, so August may be partial.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Revenue is derived from quantity and transaction price; errors in source fields flow into revenue.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Unit-price variation (approximately 95%, 100%, 105% of base price) is consistent but unexplained in the source.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The analysis identifies patterns but does not establish causation without additional business context.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No cost or profit data is available, so conclusions are about sales/revenue rather than profitability.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1508760" cy="347472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Add cost/margin data to move from revenue performance to profitability analysis.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Capture business context behind promotions, pricing changes and major monthly movements.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Continue using the validated SQL + Power BI workflow as new transactions are added.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• Use the Product Details drill-through for deeper investigation of individual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394960"/>
            <a:ext cx="8321040" cy="658368"/>
          </a:xfrm>
          <a:prstGeom prst="round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End-to-end workflow: Clean → Validate → Analyze → Visualize →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</a:defRPr>
            </a:pPr>
            <a:r>
              <a:t>Sales Management Dashboard  •  Final Project Handover  •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787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Beulah Assan</dc:creator>
  <cp:lastModifiedBy>Beulah Assan</cp:lastModifiedBy>
  <cp:revision>1</cp:revision>
  <dcterms:created xsi:type="dcterms:W3CDTF">2026-10-07T16:15:30Z</dcterms:created>
  <dcterms:modified xsi:type="dcterms:W3CDTF">2026-10-07T23:45:41Z</dcterms:modified>
</cp:coreProperties>
</file>